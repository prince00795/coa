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Design &amp; Verification of a 32-Bit RISC-V Single-Cycle Processor (RV32I)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Complete Verilog HDL implementation with hierarchical decoding and cycle-accurate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Presenter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Prince Raj</a:t>
            </a:r>
            <a:br/>
            <a:r>
              <a:t>Computer Architecture &amp; Digital System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Implementation Details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Language: Verilog HDL (IEEE 1364)</a:t>
            </a:r>
            <a:br/>
            <a:r>
              <a:t>• ISA: RISC-V RV32I Base Integer</a:t>
            </a:r>
            <a:br/>
            <a:r>
              <a:t>• Simulation: Icarus Verilog 13.0</a:t>
            </a:r>
            <a:br/>
            <a:r>
              <a:t>• Datapath: 5-Stage Single-Cycle (CPI =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Project Objectives &amp;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Bridging theoretical computer architecture with synthesizable hardware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Core Objectives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Implement 32-bit single-cycle processor core in Verilog HDL</a:t>
            </a:r>
            <a:br/>
            <a:r>
              <a:t>• Support RV32I R-type, I-type, LW, SW, and BEQ instructions</a:t>
            </a:r>
            <a:br/>
            <a:r>
              <a:t>• Validate design using automated self-checking testbenches</a:t>
            </a:r>
            <a:br/>
            <a:r>
              <a:t>• Create interactive demonstrator tool for live hardware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Why Single-Cycle Architecture?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CPI = 1: Every instruction executes in exactly 1 clock cycle</a:t>
            </a:r>
            <a:br/>
            <a:r>
              <a:t>• Simplicity: No pipeline hazards, stalls, or forwarding units</a:t>
            </a:r>
            <a:br/>
            <a:r>
              <a:t>• Foundation: Establishes baseline dataflow for multi-cycle and pipelined 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INSTRUCTION SET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RISC-V RV32I Instruction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Regular 32-bit instruction layouts designed for efficient hardware decoding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Format Specifications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R-Type: [funct7][rs2][rs1][funct3][rd][opcode] -&gt; add, sub, and, or, slt</a:t>
            </a:r>
            <a:br/>
            <a:r>
              <a:t>• I-Type: [imm 11:0][rs1][funct3][rd][opcode] -&gt; addi, lw, jalr</a:t>
            </a:r>
            <a:br/>
            <a:r>
              <a:t>• S-Type: [imm 11:5][rs2][rs1][funct3][imm 4:0][opcode] -&gt; sw</a:t>
            </a:r>
            <a:br/>
            <a:r>
              <a:t>• B-Type: [imm 12|10:5][rs2][rs1][funct3][imm 4:1|11][opcode] -&gt; beq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Hardware Decoding Highlights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rs1, rs2, rd always occupy identical bit positions</a:t>
            </a:r>
            <a:br/>
            <a:r>
              <a:t>• Opcode is always bits [6:0], enabling immediate control generation</a:t>
            </a:r>
            <a:br/>
            <a:r>
              <a:t>• 32 registers (x0 to x31) where x0 is hardwired to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HARDWARE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5 Classic Stages of the Single-Cycle Datapath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All stages execute concurrently in combinational logic during each single clock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Stage 1 &amp; 2: Fetch and Decode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1. Instruction Fetch (IF):</a:t>
            </a:r>
            <a:br/>
            <a:r>
              <a:t>   • PC points to current instruction in Instruction Memory</a:t>
            </a:r>
            <a:br/>
            <a:r>
              <a:t>   • PC+4 adder prepares sequential next address</a:t>
            </a:r>
            <a:br/>
            <a:r>
              <a:t>2. Instruction Decode (ID):</a:t>
            </a:r>
            <a:br/>
            <a:r>
              <a:t>   • Control Unit decodes 7-bit opcode</a:t>
            </a:r>
            <a:br/>
            <a:r>
              <a:t>   • Register File reads rs1 and rs2 combinationally</a:t>
            </a:r>
            <a:br/>
            <a:r>
              <a:t>   • Immediate Generator reconstructs 32-bit sign-extended constant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Stage 3, 4 &amp; 5: Execute, Memory, Write-Back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3. Execute (EX):</a:t>
            </a:r>
            <a:br/>
            <a:r>
              <a:t>   • ALU executes arithmetic/logic operation</a:t>
            </a:r>
            <a:br/>
            <a:r>
              <a:t>   • Calculates Zero flag and branch target (PC + imm)</a:t>
            </a:r>
            <a:br/>
            <a:r>
              <a:t>4. Memory Access (MEM):</a:t>
            </a:r>
            <a:br/>
            <a:r>
              <a:t>   • Data RAM loads (lw) or stores (sw)</a:t>
            </a:r>
            <a:br/>
            <a:r>
              <a:t>5. Write-Back (WB):</a:t>
            </a:r>
            <a:br/>
            <a:r>
              <a:t>   • Multiplexer selects ALU result, memory data, or PC+4 into register 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SUB-MODULE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Program Counter &amp; Instruction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Instruction address sequencing and memory fetch 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Program Counter (pc.v)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32-bit sequential register updating on posedge clk</a:t>
            </a:r>
            <a:br/>
            <a:r>
              <a:t>• Asynchronous active-high reset initializing PC to 0x00000000</a:t>
            </a:r>
            <a:br/>
            <a:r>
              <a:t>• Non-blocking assignment (&lt;=) ensures race-free flip-flop synthesis</a:t>
            </a:r>
            <a:br/>
            <a:r>
              <a:t>• Latches either PC+4 or branch/jump target 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Instruction Memory (instruction_mem.v)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64-word deep ROM holding 32-bit RISC-V instructions</a:t>
            </a:r>
            <a:br/>
            <a:r>
              <a:t>• Asynchronous read: assign instr = memory[pc[7:2]];</a:t>
            </a:r>
            <a:br/>
            <a:r>
              <a:t>• pc[7:2] divides byte address by 4 for word index</a:t>
            </a:r>
            <a:br/>
            <a:r>
              <a:t>• Supports dynamic hex program loading via $readmemh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SUB-MODULE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Register File &amp; Immediate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Dual-read register storage and sign-extending immediate reconstruction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Register File (reg_file.v)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32 registers x 32 bits wide</a:t>
            </a:r>
            <a:br/>
            <a:r>
              <a:t>• Two combinational read ports (rd_data1, rd_data2)</a:t>
            </a:r>
            <a:br/>
            <a:r>
              <a:t>• One synchronous write port triggered on posedge clk when reg_write=1</a:t>
            </a:r>
            <a:br/>
            <a:r>
              <a:t>• Hardwired x0: Reads always return 0, writes to x0 are ignored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Immediate Generator (imm_gen.v)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Reconstructs scattered immediate bit slices based on opcode</a:t>
            </a:r>
            <a:br/>
            <a:r>
              <a:t>• Performs 32-bit sign extension: {{20{instr[31]}}, ...}</a:t>
            </a:r>
            <a:br/>
            <a:r>
              <a:t>• Formats handled: I-type (addi, lw), S-type (sw), B-type (beq), J-type (jal)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SUB-MODULE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Arithmetic Logic Unit &amp; ALU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Core computing engine and hierarchical operation decoding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ALU (alu.v)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Computes: ADD, SUB, AND, OR, XOR, SLT, Shift Left, Shift Right</a:t>
            </a:r>
            <a:br/>
            <a:r>
              <a:t>• Zero Flag: assign zero = (result == 32'b0);</a:t>
            </a:r>
            <a:br/>
            <a:r>
              <a:t>  Essential for conditional branch evaluation (BEQ)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ALU Control (alu_control.v)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Multi-level decoding: Main Control sets 2-bit alu_op</a:t>
            </a:r>
            <a:br/>
            <a:r>
              <a:t>• Secondary decoder checks funct3 and funct7[5]</a:t>
            </a:r>
            <a:br/>
            <a:r>
              <a:t>• Minimizes combinational gate delay across the control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SUB-MODULE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Main Control Unit &amp; Data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Central traffic controller and data storage 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Main Control Unit (control_unit.v)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Decodes opcode[6:0] into 8 control signals:</a:t>
            </a:r>
            <a:br/>
            <a:r>
              <a:t>  - RegWrite: enables register destination write</a:t>
            </a:r>
            <a:br/>
            <a:r>
              <a:t>  - ALUSrc: selects Register 2 vs Immediate</a:t>
            </a:r>
            <a:br/>
            <a:r>
              <a:t>  - MemRead / MemWrite: enables RAM read/write</a:t>
            </a:r>
            <a:br/>
            <a:r>
              <a:t>  - MemToReg: selects writeback source</a:t>
            </a:r>
            <a:br/>
            <a:r>
              <a:t>  - Branch / Jump: branch and jump enables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Data Memory (data_mem.v)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64 words (256 bytes) RAM addressed by addr[7:2]</a:t>
            </a:r>
            <a:br/>
            <a:r>
              <a:t>• Asynchronous combinational read on mem_read=1</a:t>
            </a:r>
            <a:br/>
            <a:r>
              <a:t>• Synchronous write on posedge clk when mem_write=1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TOP CORE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Top Datapath Multiplexers (riscv_core.v)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Integrating all sub-modules into a unified operational 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Branch and Jump Multiplexing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Branch Target: branch_target = pc_current + imm_out;</a:t>
            </a:r>
            <a:br/>
            <a:r>
              <a:t>• Branch Taken: pc_branch_taken = branch &amp; alu_zero;</a:t>
            </a:r>
            <a:br/>
            <a:r>
              <a:t>• Next PC MUX: pc_next = (jump || pc_branch_taken) ? branch_target : pc_plus_4;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Operand &amp; Write-Back Multiplexing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ALU Operand B MUX: alu_operand_b = alu_src ? imm_out : rd_data2;</a:t>
            </a:r>
            <a:br/>
            <a:r>
              <a:t>• Write-Back MUX: mem_to_reg selects between ALU result (00), Data RAM read (01), or PC+4 (10)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SIMULATION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Automated 11-Instruction Testbench (tb_riscv.v)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Self-checking testbench executed in Icarus Verilog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Test Program Sequence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PC 0x00: addi x1, x0, 15  -&gt; x1 = 15</a:t>
            </a:r>
            <a:br/>
            <a:r>
              <a:t>• PC 0x04: addi x2, x0, 25  -&gt; x2 = 25</a:t>
            </a:r>
            <a:br/>
            <a:r>
              <a:t>• PC 0x08: add  x3, x1, x2  -&gt; x3 = 40</a:t>
            </a:r>
            <a:br/>
            <a:r>
              <a:t>• PC 0x0C: sub  x4, x2, x1  -&gt; x4 = 10</a:t>
            </a:r>
            <a:br/>
            <a:r>
              <a:t>• PC 0x10: and  x5, x1, x2  -&gt; x5 = 9</a:t>
            </a:r>
            <a:br/>
            <a:r>
              <a:t>• PC 0x14: or   x6, x1, x2  -&gt; x6 = 31</a:t>
            </a:r>
            <a:br/>
            <a:r>
              <a:t>• PC 0x18: sw   x3, 4(x0)   -&gt; Mem[4] = 40</a:t>
            </a:r>
            <a:br/>
            <a:r>
              <a:t>• PC 0x1C: lw   x7, 4(x0)   -&gt; x7 =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Branch Verification &amp; Result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PC 0x20: beq x3, x7, 8   -&gt; Condition TRUE!</a:t>
            </a:r>
            <a:br/>
            <a:r>
              <a:t>• PC 0x24: addi x8, x0, 99 -&gt; SKIPPED (x8 stays 0)</a:t>
            </a:r>
            <a:br/>
            <a:r>
              <a:t>• PC 0x28: addi x9, x0, 42 -&gt; TARGET REACHED (x9 = 42)</a:t>
            </a:r>
            <a:br/>
            <a:br/>
            <a:r>
              <a:t>&gt;&gt;&gt; SUCCESS! ALL INSTRUCTIONS VERIFIED &lt;&lt;&lt;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DEMONSTRATION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Interactive Demonstrator CLI (run_interactive.py)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Real-time user input assembly and hardware simulation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Interactive Features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Accepts user input numbers and operations in terminal</a:t>
            </a:r>
            <a:br/>
            <a:r>
              <a:t>• Supports ADD, SUB, AND, OR, XOR, SLT</a:t>
            </a:r>
            <a:br/>
            <a:r>
              <a:t>• Assembles machine code dynamically and generates sim/instructions.hex</a:t>
            </a:r>
            <a:br/>
            <a:r>
              <a:t>• Runs Icarus Verilog simulation and captures hardware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Educational Breakdown Displayed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Decodes instruction into funct7, rs2, rs1, funct3, rd, opcode</a:t>
            </a:r>
            <a:br/>
            <a:r>
              <a:t>• Explains the 5-stage physical signal journey</a:t>
            </a:r>
            <a:br/>
            <a:r>
              <a:t>• Prints cycle-by-cycle internal Verilog signals</a:t>
            </a:r>
            <a:br/>
            <a:r>
              <a:t>• Displays final register values in decimal and hexadecimal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VIVA VOCE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Professor Defense Guide: Key Viva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Authoritative answers for oral examination and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Architecture &amp; Critical Path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Q: What is the critical path?</a:t>
            </a:r>
            <a:br/>
            <a:r>
              <a:t>  A: Load Word (lw). It must traverse Fetch -&gt; Reg Read -&gt; ALU -&gt; Data RAM -&gt; WB Mux -&gt; Reg Write. Clock period must accommodate this.</a:t>
            </a:r>
            <a:br/>
            <a:r>
              <a:t>• Q: Why is it called single-cycle?</a:t>
            </a:r>
            <a:br/>
            <a:r>
              <a:t>  A: Every instruction completes in exactly 1 clock cycle (CPI = 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Hardware Decisions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Q: Why is x0 hardwired to 0?</a:t>
            </a:r>
            <a:br/>
            <a:r>
              <a:t>  A: Enables compact pseudo-instructions like nop (addi x0, x0, 0) and mv (addi rd, rs, 0) without extra silicon.</a:t>
            </a:r>
            <a:br/>
            <a:r>
              <a:t>• Q: Why use non-blocking assignments (&lt;=)?</a:t>
            </a:r>
            <a:br/>
            <a:r>
              <a:t>  A: Models concurrent hardware flip-flop updates and prevents simulation race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Conclusion &amp; Future Research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Summary of achievements and architecture expansion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Key Outcomes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Designed and verified synthesizable RV32I single-cycle processor core</a:t>
            </a:r>
            <a:br/>
            <a:r>
              <a:t>• Successfully verified all arithmetic, logic, load, store, and branch instructions</a:t>
            </a:r>
            <a:br/>
            <a:r>
              <a:t>• Created automated testbenches and live interactive CLI demonstrator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3931920"/>
          </a:xfrm>
          <a:prstGeom prst="roundRect">
            <a:avLst/>
          </a:prstGeom>
          <a:solidFill>
            <a:srgbClr val="172554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Future Enhancements</a:t>
            </a:r>
          </a:p>
          <a:p>
            <a:pPr>
              <a:spcBef>
                <a:spcPts val="1000"/>
              </a:spcBef>
              <a:defRPr sz="1200">
                <a:solidFill>
                  <a:srgbClr val="F1F5F9"/>
                </a:solidFill>
              </a:defRPr>
            </a:pPr>
            <a:r>
              <a:t>• 5-Stage Pipelining (IF, ID, EX, MEM, WB) with Hazard Detection</a:t>
            </a:r>
            <a:br/>
            <a:r>
              <a:t>• Data forwarding units to eliminate stalls</a:t>
            </a:r>
            <a:br/>
            <a:r>
              <a:t>• RV32M Extension: Hardware Multiplier and Divider</a:t>
            </a:r>
            <a:br/>
            <a:r>
              <a:t>• L1 Instruction and Data Caches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RISC-V RV32I Single-Cycle Processor  |  Prince Raj  |  Verilog HDL &amp; Icarus Verilog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